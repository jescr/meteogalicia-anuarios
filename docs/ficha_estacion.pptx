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180" d="100"/>
          <a:sy n="180" d="100"/>
        </p:scale>
        <p:origin x="108" y="-84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 smtClean="0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9518D-F8AB-4C1F-88DF-42AB9158AB91}" type="datetimeFigureOut">
              <a:rPr lang="es-ES" smtClean="0"/>
              <a:t>10/03/2026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A36AA-31A1-4DAF-8ADB-3302140C4B5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42893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9518D-F8AB-4C1F-88DF-42AB9158AB91}" type="datetimeFigureOut">
              <a:rPr lang="es-ES" smtClean="0"/>
              <a:t>10/03/2026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A36AA-31A1-4DAF-8ADB-3302140C4B5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853198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9518D-F8AB-4C1F-88DF-42AB9158AB91}" type="datetimeFigureOut">
              <a:rPr lang="es-ES" smtClean="0"/>
              <a:t>10/03/2026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A36AA-31A1-4DAF-8ADB-3302140C4B5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456703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9518D-F8AB-4C1F-88DF-42AB9158AB91}" type="datetimeFigureOut">
              <a:rPr lang="es-ES" smtClean="0"/>
              <a:t>10/03/2026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A36AA-31A1-4DAF-8ADB-3302140C4B5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734309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9518D-F8AB-4C1F-88DF-42AB9158AB91}" type="datetimeFigureOut">
              <a:rPr lang="es-ES" smtClean="0"/>
              <a:t>10/03/2026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A36AA-31A1-4DAF-8ADB-3302140C4B5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421482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9518D-F8AB-4C1F-88DF-42AB9158AB91}" type="datetimeFigureOut">
              <a:rPr lang="es-ES" smtClean="0"/>
              <a:t>10/03/2026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A36AA-31A1-4DAF-8ADB-3302140C4B5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280061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9518D-F8AB-4C1F-88DF-42AB9158AB91}" type="datetimeFigureOut">
              <a:rPr lang="es-ES" smtClean="0"/>
              <a:t>10/03/2026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A36AA-31A1-4DAF-8ADB-3302140C4B5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514085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9518D-F8AB-4C1F-88DF-42AB9158AB91}" type="datetimeFigureOut">
              <a:rPr lang="es-ES" smtClean="0"/>
              <a:t>10/03/2026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A36AA-31A1-4DAF-8ADB-3302140C4B5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575349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9518D-F8AB-4C1F-88DF-42AB9158AB91}" type="datetimeFigureOut">
              <a:rPr lang="es-ES" smtClean="0"/>
              <a:t>10/03/2026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A36AA-31A1-4DAF-8ADB-3302140C4B5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042780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9518D-F8AB-4C1F-88DF-42AB9158AB91}" type="datetimeFigureOut">
              <a:rPr lang="es-ES" smtClean="0"/>
              <a:t>10/03/2026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A36AA-31A1-4DAF-8ADB-3302140C4B5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265999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9518D-F8AB-4C1F-88DF-42AB9158AB91}" type="datetimeFigureOut">
              <a:rPr lang="es-ES" smtClean="0"/>
              <a:t>10/03/2026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A36AA-31A1-4DAF-8ADB-3302140C4B5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252926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99518D-F8AB-4C1F-88DF-42AB9158AB91}" type="datetimeFigureOut">
              <a:rPr lang="es-ES" smtClean="0"/>
              <a:t>10/03/2026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6A36AA-31A1-4DAF-8ADB-3302140C4B5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769222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Drawing 0" descr="3fac4a0d0301152a2810d021235ac89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6029" y="2491026"/>
            <a:ext cx="3645941" cy="515642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4" name="CuadroTexto 3"/>
          <p:cNvSpPr txBox="1"/>
          <p:nvPr/>
        </p:nvSpPr>
        <p:spPr>
          <a:xfrm>
            <a:off x="1559386" y="1863048"/>
            <a:ext cx="148790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800" b="1" dirty="0" err="1" smtClean="0">
                <a:cs typeface="Arial" panose="020B0604020202020204" pitchFamily="34" charset="0"/>
              </a:rPr>
              <a:t>Nome</a:t>
            </a:r>
            <a:r>
              <a:rPr lang="es-ES" sz="800" b="1" dirty="0" smtClean="0">
                <a:cs typeface="Arial" panose="020B0604020202020204" pitchFamily="34" charset="0"/>
              </a:rPr>
              <a:t>, </a:t>
            </a:r>
            <a:r>
              <a:rPr lang="es-ES" sz="800" b="1" dirty="0" err="1" smtClean="0">
                <a:cs typeface="Arial" panose="020B0604020202020204" pitchFamily="34" charset="0"/>
              </a:rPr>
              <a:t>concello</a:t>
            </a:r>
            <a:r>
              <a:rPr lang="es-ES" sz="800" b="1" dirty="0" smtClean="0">
                <a:cs typeface="Arial" panose="020B0604020202020204" pitchFamily="34" charset="0"/>
              </a:rPr>
              <a:t> e coordenadas</a:t>
            </a:r>
            <a:endParaRPr lang="es-ES" sz="800" b="1" dirty="0">
              <a:cs typeface="Arial" panose="020B0604020202020204" pitchFamily="34" charset="0"/>
            </a:endParaRPr>
          </a:p>
        </p:txBody>
      </p:sp>
      <p:sp>
        <p:nvSpPr>
          <p:cNvPr id="5" name="CuadroTexto 4"/>
          <p:cNvSpPr txBox="1"/>
          <p:nvPr/>
        </p:nvSpPr>
        <p:spPr>
          <a:xfrm>
            <a:off x="3786686" y="1863048"/>
            <a:ext cx="124264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800" b="1" dirty="0" smtClean="0">
                <a:cs typeface="Arial" panose="020B0604020202020204" pitchFamily="34" charset="0"/>
              </a:rPr>
              <a:t>Localización na provincia</a:t>
            </a:r>
            <a:endParaRPr lang="es-ES" sz="800" b="1" dirty="0">
              <a:cs typeface="Arial" panose="020B0604020202020204" pitchFamily="34" charset="0"/>
            </a:endParaRPr>
          </a:p>
        </p:txBody>
      </p:sp>
      <p:sp>
        <p:nvSpPr>
          <p:cNvPr id="6" name="CuadroTexto 5"/>
          <p:cNvSpPr txBox="1"/>
          <p:nvPr/>
        </p:nvSpPr>
        <p:spPr>
          <a:xfrm>
            <a:off x="109734" y="2634324"/>
            <a:ext cx="130570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S" dirty="0" smtClean="0">
                <a:latin typeface="+mn-lt"/>
              </a:rPr>
              <a:t>Fotografía da </a:t>
            </a:r>
            <a:r>
              <a:rPr lang="es-ES" dirty="0">
                <a:latin typeface="+mn-lt"/>
              </a:rPr>
              <a:t>estación</a:t>
            </a:r>
          </a:p>
        </p:txBody>
      </p:sp>
      <p:sp>
        <p:nvSpPr>
          <p:cNvPr id="7" name="CuadroTexto 6"/>
          <p:cNvSpPr txBox="1"/>
          <p:nvPr/>
        </p:nvSpPr>
        <p:spPr>
          <a:xfrm>
            <a:off x="5339211" y="2650708"/>
            <a:ext cx="57900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800" b="1" dirty="0">
                <a:cs typeface="Arial" panose="020B0604020202020204" pitchFamily="34" charset="0"/>
              </a:rPr>
              <a:t>Provincia</a:t>
            </a:r>
            <a:endParaRPr lang="es-ES" sz="800" b="1" dirty="0">
              <a:cs typeface="Arial" panose="020B0604020202020204" pitchFamily="34" charset="0"/>
            </a:endParaRPr>
          </a:p>
        </p:txBody>
      </p:sp>
      <p:sp>
        <p:nvSpPr>
          <p:cNvPr id="8" name="CuadroTexto 7"/>
          <p:cNvSpPr txBox="1"/>
          <p:nvPr/>
        </p:nvSpPr>
        <p:spPr>
          <a:xfrm>
            <a:off x="109734" y="3513322"/>
            <a:ext cx="144965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b="1" dirty="0" smtClean="0">
                <a:cs typeface="Arial" panose="020B0604020202020204" pitchFamily="34" charset="0"/>
              </a:rPr>
              <a:t>Gráfica 1</a:t>
            </a:r>
            <a:endParaRPr lang="es-ES" sz="1400" b="1" dirty="0" smtClean="0">
              <a:cs typeface="Arial" panose="020B0604020202020204" pitchFamily="34" charset="0"/>
            </a:endParaRPr>
          </a:p>
          <a:p>
            <a:r>
              <a:rPr lang="pt-BR" sz="800" dirty="0">
                <a:cs typeface="Arial" panose="020B0604020202020204" pitchFamily="34" charset="0"/>
              </a:rPr>
              <a:t>Mostra a </a:t>
            </a:r>
            <a:r>
              <a:rPr lang="pt-BR" sz="800" dirty="0" smtClean="0">
                <a:cs typeface="Arial" panose="020B0604020202020204" pitchFamily="34" charset="0"/>
              </a:rPr>
              <a:t>medida </a:t>
            </a:r>
            <a:r>
              <a:rPr lang="pt-BR" sz="800" dirty="0">
                <a:cs typeface="Arial" panose="020B0604020202020204" pitchFamily="34" charset="0"/>
              </a:rPr>
              <a:t>mensual das Tª máximas e </a:t>
            </a:r>
            <a:r>
              <a:rPr lang="pt-BR" sz="800" dirty="0" smtClean="0">
                <a:cs typeface="Arial" panose="020B0604020202020204" pitchFamily="34" charset="0"/>
              </a:rPr>
              <a:t>mínimas</a:t>
            </a:r>
            <a:r>
              <a:rPr lang="pt-BR" sz="800" dirty="0">
                <a:cs typeface="Arial" panose="020B0604020202020204" pitchFamily="34" charset="0"/>
              </a:rPr>
              <a:t>, </a:t>
            </a:r>
            <a:endParaRPr lang="pt-BR" sz="800" dirty="0" smtClean="0">
              <a:cs typeface="Arial" panose="020B0604020202020204" pitchFamily="34" charset="0"/>
            </a:endParaRPr>
          </a:p>
          <a:p>
            <a:r>
              <a:rPr lang="pt-BR" sz="800" dirty="0" smtClean="0">
                <a:cs typeface="Arial" panose="020B0604020202020204" pitchFamily="34" charset="0"/>
              </a:rPr>
              <a:t>as </a:t>
            </a:r>
            <a:r>
              <a:rPr lang="pt-BR" sz="800" dirty="0">
                <a:cs typeface="Arial" panose="020B0604020202020204" pitchFamily="34" charset="0"/>
              </a:rPr>
              <a:t>Tª máximas e </a:t>
            </a:r>
            <a:r>
              <a:rPr lang="pt-BR" sz="800" dirty="0" smtClean="0">
                <a:cs typeface="Arial" panose="020B0604020202020204" pitchFamily="34" charset="0"/>
              </a:rPr>
              <a:t>mínimas </a:t>
            </a:r>
            <a:r>
              <a:rPr lang="pt-BR" sz="800" dirty="0">
                <a:cs typeface="Arial" panose="020B0604020202020204" pitchFamily="34" charset="0"/>
              </a:rPr>
              <a:t>absolutas acadadas en cada mes e o número de días de xeada en diagrama de barras. O eixe da esquerda mostra a escala de Tª e o da dereita o do número días de xeada.</a:t>
            </a:r>
            <a:endParaRPr lang="es-ES" sz="800" b="1" dirty="0">
              <a:cs typeface="Arial" panose="020B0604020202020204" pitchFamily="34" charset="0"/>
            </a:endParaRPr>
          </a:p>
        </p:txBody>
      </p:sp>
      <p:sp>
        <p:nvSpPr>
          <p:cNvPr id="10" name="CuadroTexto 9"/>
          <p:cNvSpPr txBox="1"/>
          <p:nvPr/>
        </p:nvSpPr>
        <p:spPr>
          <a:xfrm>
            <a:off x="5339211" y="3882653"/>
            <a:ext cx="14090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00" b="1" dirty="0"/>
              <a:t>Resumo anual </a:t>
            </a:r>
            <a:r>
              <a:rPr lang="pt-BR" sz="800" dirty="0"/>
              <a:t>das principais variables. Se unha variable non se mide ou non hai datos suficientes, ponse “-”.</a:t>
            </a:r>
            <a:endParaRPr lang="es-ES" sz="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CuadroTexto 10"/>
          <p:cNvSpPr txBox="1"/>
          <p:nvPr/>
        </p:nvSpPr>
        <p:spPr>
          <a:xfrm>
            <a:off x="5339210" y="4879261"/>
            <a:ext cx="127424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00" b="1" dirty="0">
                <a:cs typeface="Arial" panose="020B0604020202020204" pitchFamily="34" charset="0"/>
              </a:rPr>
              <a:t>Gráfica </a:t>
            </a:r>
            <a:r>
              <a:rPr lang="pt-BR" sz="800" b="1" dirty="0" smtClean="0">
                <a:cs typeface="Arial" panose="020B0604020202020204" pitchFamily="34" charset="0"/>
              </a:rPr>
              <a:t>3</a:t>
            </a:r>
          </a:p>
          <a:p>
            <a:r>
              <a:rPr lang="pt-BR" sz="800" dirty="0" smtClean="0">
                <a:cs typeface="Arial" panose="020B0604020202020204" pitchFamily="34" charset="0"/>
              </a:rPr>
              <a:t>As </a:t>
            </a:r>
            <a:r>
              <a:rPr lang="pt-BR" sz="800" dirty="0">
                <a:cs typeface="Arial" panose="020B0604020202020204" pitchFamily="34" charset="0"/>
              </a:rPr>
              <a:t>barras mostran a porcentaxe de insolación (escala á esquerda). As liñas mostran a humidade relativa, e as máxima e mínima </a:t>
            </a:r>
            <a:r>
              <a:rPr lang="pt-BR" sz="800" dirty="0" smtClean="0">
                <a:cs typeface="Arial" panose="020B0604020202020204" pitchFamily="34" charset="0"/>
              </a:rPr>
              <a:t>absolutas</a:t>
            </a:r>
            <a:endParaRPr lang="es-ES" sz="800" b="1" dirty="0">
              <a:cs typeface="Arial" panose="020B0604020202020204" pitchFamily="34" charset="0"/>
            </a:endParaRPr>
          </a:p>
        </p:txBody>
      </p:sp>
      <p:sp>
        <p:nvSpPr>
          <p:cNvPr id="12" name="CuadroTexto 11"/>
          <p:cNvSpPr txBox="1"/>
          <p:nvPr/>
        </p:nvSpPr>
        <p:spPr>
          <a:xfrm>
            <a:off x="834560" y="8059284"/>
            <a:ext cx="251469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b="1" dirty="0">
                <a:cs typeface="Arial" panose="020B0604020202020204" pitchFamily="34" charset="0"/>
              </a:rPr>
              <a:t>Gráfica </a:t>
            </a:r>
            <a:r>
              <a:rPr lang="es-ES" sz="800" b="1" dirty="0" smtClean="0">
                <a:cs typeface="Arial" panose="020B0604020202020204" pitchFamily="34" charset="0"/>
              </a:rPr>
              <a:t>4 </a:t>
            </a:r>
          </a:p>
          <a:p>
            <a:r>
              <a:rPr lang="es-ES" sz="800" dirty="0" smtClean="0">
                <a:cs typeface="Arial" panose="020B0604020202020204" pitchFamily="34" charset="0"/>
              </a:rPr>
              <a:t>Rosa </a:t>
            </a:r>
            <a:r>
              <a:rPr lang="es-ES" sz="800" dirty="0">
                <a:cs typeface="Arial" panose="020B0604020202020204" pitchFamily="34" charset="0"/>
              </a:rPr>
              <a:t>dos </a:t>
            </a:r>
            <a:r>
              <a:rPr lang="es-ES" sz="800" dirty="0" err="1">
                <a:cs typeface="Arial" panose="020B0604020202020204" pitchFamily="34" charset="0"/>
              </a:rPr>
              <a:t>ventos</a:t>
            </a:r>
            <a:r>
              <a:rPr lang="es-ES" sz="800" dirty="0">
                <a:cs typeface="Arial" panose="020B0604020202020204" pitchFamily="34" charset="0"/>
              </a:rPr>
              <a:t>. A gráfica </a:t>
            </a:r>
            <a:r>
              <a:rPr lang="es-ES" sz="800" dirty="0" err="1">
                <a:cs typeface="Arial" panose="020B0604020202020204" pitchFamily="34" charset="0"/>
              </a:rPr>
              <a:t>mostra</a:t>
            </a:r>
            <a:r>
              <a:rPr lang="es-ES" sz="800" dirty="0">
                <a:cs typeface="Arial" panose="020B0604020202020204" pitchFamily="34" charset="0"/>
              </a:rPr>
              <a:t> a </a:t>
            </a:r>
            <a:r>
              <a:rPr lang="es-ES" sz="800" dirty="0" err="1">
                <a:cs typeface="Arial" panose="020B0604020202020204" pitchFamily="34" charset="0"/>
              </a:rPr>
              <a:t>porcentaxe</a:t>
            </a:r>
            <a:r>
              <a:rPr lang="es-ES" sz="800" dirty="0">
                <a:cs typeface="Arial" panose="020B0604020202020204" pitchFamily="34" charset="0"/>
              </a:rPr>
              <a:t> de </a:t>
            </a:r>
            <a:r>
              <a:rPr lang="es-ES" sz="800" dirty="0" err="1">
                <a:cs typeface="Arial" panose="020B0604020202020204" pitchFamily="34" charset="0"/>
              </a:rPr>
              <a:t>rexistros</a:t>
            </a:r>
            <a:r>
              <a:rPr lang="es-ES" sz="800" dirty="0">
                <a:cs typeface="Arial" panose="020B0604020202020204" pitchFamily="34" charset="0"/>
              </a:rPr>
              <a:t> </a:t>
            </a:r>
            <a:r>
              <a:rPr lang="es-ES" sz="800" dirty="0" err="1">
                <a:cs typeface="Arial" panose="020B0604020202020204" pitchFamily="34" charset="0"/>
              </a:rPr>
              <a:t>dezminutais</a:t>
            </a:r>
            <a:r>
              <a:rPr lang="es-ES" sz="800" dirty="0">
                <a:cs typeface="Arial" panose="020B0604020202020204" pitchFamily="34" charset="0"/>
              </a:rPr>
              <a:t> de </a:t>
            </a:r>
            <a:r>
              <a:rPr lang="es-ES" sz="800" dirty="0" err="1">
                <a:cs typeface="Arial" panose="020B0604020202020204" pitchFamily="34" charset="0"/>
              </a:rPr>
              <a:t>vento</a:t>
            </a:r>
            <a:r>
              <a:rPr lang="es-ES" sz="800" dirty="0">
                <a:cs typeface="Arial" panose="020B0604020202020204" pitchFamily="34" charset="0"/>
              </a:rPr>
              <a:t> en cada </a:t>
            </a:r>
            <a:r>
              <a:rPr lang="es-ES" sz="800" dirty="0" err="1">
                <a:cs typeface="Arial" panose="020B0604020202020204" pitchFamily="34" charset="0"/>
              </a:rPr>
              <a:t>unha</a:t>
            </a:r>
            <a:r>
              <a:rPr lang="es-ES" sz="800" dirty="0">
                <a:cs typeface="Arial" panose="020B0604020202020204" pitchFamily="34" charset="0"/>
              </a:rPr>
              <a:t> das </a:t>
            </a:r>
            <a:r>
              <a:rPr lang="es-ES" sz="800" dirty="0" err="1">
                <a:cs typeface="Arial" panose="020B0604020202020204" pitchFamily="34" charset="0"/>
              </a:rPr>
              <a:t>oito</a:t>
            </a:r>
            <a:r>
              <a:rPr lang="es-ES" sz="800" dirty="0">
                <a:cs typeface="Arial" panose="020B0604020202020204" pitchFamily="34" charset="0"/>
              </a:rPr>
              <a:t> </a:t>
            </a:r>
            <a:r>
              <a:rPr lang="es-ES" sz="800" dirty="0" err="1">
                <a:cs typeface="Arial" panose="020B0604020202020204" pitchFamily="34" charset="0"/>
              </a:rPr>
              <a:t>direccións</a:t>
            </a:r>
            <a:r>
              <a:rPr lang="es-ES" sz="800" dirty="0">
                <a:cs typeface="Arial" panose="020B0604020202020204" pitchFamily="34" charset="0"/>
              </a:rPr>
              <a:t> </a:t>
            </a:r>
            <a:r>
              <a:rPr lang="es-ES" sz="800" dirty="0" err="1" smtClean="0">
                <a:cs typeface="Arial" panose="020B0604020202020204" pitchFamily="34" charset="0"/>
              </a:rPr>
              <a:t>rexistradas</a:t>
            </a:r>
            <a:r>
              <a:rPr lang="es-ES" sz="800" dirty="0" smtClean="0">
                <a:cs typeface="Arial" panose="020B0604020202020204" pitchFamily="34" charset="0"/>
              </a:rPr>
              <a:t> e a </a:t>
            </a:r>
            <a:r>
              <a:rPr lang="es-ES" sz="800" dirty="0" err="1" smtClean="0">
                <a:cs typeface="Arial" panose="020B0604020202020204" pitchFamily="34" charset="0"/>
              </a:rPr>
              <a:t>sua</a:t>
            </a:r>
            <a:r>
              <a:rPr lang="es-ES" sz="800" dirty="0" smtClean="0">
                <a:cs typeface="Arial" panose="020B0604020202020204" pitchFamily="34" charset="0"/>
              </a:rPr>
              <a:t> </a:t>
            </a:r>
            <a:r>
              <a:rPr lang="es-ES" sz="800" dirty="0" err="1" smtClean="0">
                <a:cs typeface="Arial" panose="020B0604020202020204" pitchFamily="34" charset="0"/>
              </a:rPr>
              <a:t>intensidade</a:t>
            </a:r>
            <a:r>
              <a:rPr lang="es-ES" sz="800" dirty="0" smtClean="0">
                <a:cs typeface="Arial" panose="020B0604020202020204" pitchFamily="34" charset="0"/>
              </a:rPr>
              <a:t> </a:t>
            </a:r>
            <a:r>
              <a:rPr lang="es-ES" sz="800" dirty="0" err="1" smtClean="0">
                <a:cs typeface="Arial" panose="020B0604020202020204" pitchFamily="34" charset="0"/>
              </a:rPr>
              <a:t>exclúidas</a:t>
            </a:r>
            <a:r>
              <a:rPr lang="es-ES" sz="800" dirty="0" smtClean="0">
                <a:cs typeface="Arial" panose="020B0604020202020204" pitchFamily="34" charset="0"/>
              </a:rPr>
              <a:t> </a:t>
            </a:r>
            <a:r>
              <a:rPr lang="es-ES" sz="800" dirty="0">
                <a:cs typeface="Arial" panose="020B0604020202020204" pitchFamily="34" charset="0"/>
              </a:rPr>
              <a:t>as calmas. </a:t>
            </a:r>
            <a:r>
              <a:rPr lang="es-ES" sz="800" dirty="0" smtClean="0">
                <a:cs typeface="Arial" panose="020B0604020202020204" pitchFamily="34" charset="0"/>
              </a:rPr>
              <a:t>A </a:t>
            </a:r>
            <a:r>
              <a:rPr lang="es-ES" sz="800" dirty="0" err="1">
                <a:cs typeface="Arial" panose="020B0604020202020204" pitchFamily="34" charset="0"/>
              </a:rPr>
              <a:t>porcentaxe</a:t>
            </a:r>
            <a:r>
              <a:rPr lang="es-ES" sz="800" dirty="0">
                <a:cs typeface="Arial" panose="020B0604020202020204" pitchFamily="34" charset="0"/>
              </a:rPr>
              <a:t> </a:t>
            </a:r>
            <a:r>
              <a:rPr lang="es-ES" sz="800" dirty="0" err="1">
                <a:cs typeface="Arial" panose="020B0604020202020204" pitchFamily="34" charset="0"/>
              </a:rPr>
              <a:t>destas</a:t>
            </a:r>
            <a:r>
              <a:rPr lang="es-ES" sz="800" dirty="0">
                <a:cs typeface="Arial" panose="020B0604020202020204" pitchFamily="34" charset="0"/>
              </a:rPr>
              <a:t> </a:t>
            </a:r>
            <a:r>
              <a:rPr lang="es-ES" sz="800" dirty="0" err="1">
                <a:cs typeface="Arial" panose="020B0604020202020204" pitchFamily="34" charset="0"/>
              </a:rPr>
              <a:t>amósase</a:t>
            </a:r>
            <a:r>
              <a:rPr lang="es-ES" sz="800" dirty="0">
                <a:cs typeface="Arial" panose="020B0604020202020204" pitchFamily="34" charset="0"/>
              </a:rPr>
              <a:t> a </a:t>
            </a:r>
            <a:r>
              <a:rPr lang="es-ES" sz="800" dirty="0" err="1" smtClean="0">
                <a:cs typeface="Arial" panose="020B0604020202020204" pitchFamily="34" charset="0"/>
              </a:rPr>
              <a:t>debaixo</a:t>
            </a:r>
            <a:r>
              <a:rPr lang="es-ES" sz="800" dirty="0" smtClean="0">
                <a:cs typeface="Arial" panose="020B0604020202020204" pitchFamily="34" charset="0"/>
              </a:rPr>
              <a:t> </a:t>
            </a:r>
            <a:r>
              <a:rPr lang="es-ES" sz="800" dirty="0">
                <a:cs typeface="Arial" panose="020B0604020202020204" pitchFamily="34" charset="0"/>
              </a:rPr>
              <a:t>da gráfica. </a:t>
            </a:r>
            <a:endParaRPr lang="es-ES" sz="800" b="1" dirty="0">
              <a:cs typeface="Arial" panose="020B0604020202020204" pitchFamily="34" charset="0"/>
            </a:endParaRPr>
          </a:p>
        </p:txBody>
      </p:sp>
      <p:sp>
        <p:nvSpPr>
          <p:cNvPr id="13" name="CuadroTexto 12"/>
          <p:cNvSpPr txBox="1"/>
          <p:nvPr/>
        </p:nvSpPr>
        <p:spPr>
          <a:xfrm>
            <a:off x="4815452" y="8055207"/>
            <a:ext cx="12850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b="1" dirty="0" smtClean="0">
                <a:cs typeface="Arial" panose="020B0604020202020204" pitchFamily="34" charset="0"/>
              </a:rPr>
              <a:t>Datos </a:t>
            </a:r>
            <a:r>
              <a:rPr lang="es-ES" sz="800" b="1" dirty="0" err="1" smtClean="0">
                <a:cs typeface="Arial" panose="020B0604020202020204" pitchFamily="34" charset="0"/>
              </a:rPr>
              <a:t>anuais</a:t>
            </a:r>
            <a:r>
              <a:rPr lang="es-ES" sz="800" b="1" dirty="0" smtClean="0">
                <a:cs typeface="Arial" panose="020B0604020202020204" pitchFamily="34" charset="0"/>
              </a:rPr>
              <a:t> </a:t>
            </a:r>
            <a:r>
              <a:rPr lang="es-ES" sz="800" dirty="0" smtClean="0">
                <a:cs typeface="Arial" panose="020B0604020202020204" pitchFamily="34" charset="0"/>
              </a:rPr>
              <a:t>de </a:t>
            </a:r>
            <a:r>
              <a:rPr lang="es-ES" sz="800" dirty="0" err="1" smtClean="0">
                <a:cs typeface="Arial" panose="020B0604020202020204" pitchFamily="34" charset="0"/>
              </a:rPr>
              <a:t>velocidade</a:t>
            </a:r>
            <a:r>
              <a:rPr lang="es-ES" sz="800" dirty="0" smtClean="0">
                <a:cs typeface="Arial" panose="020B0604020202020204" pitchFamily="34" charset="0"/>
              </a:rPr>
              <a:t> do </a:t>
            </a:r>
            <a:r>
              <a:rPr lang="es-ES" sz="800" dirty="0" err="1" smtClean="0">
                <a:cs typeface="Arial" panose="020B0604020202020204" pitchFamily="34" charset="0"/>
              </a:rPr>
              <a:t>vento</a:t>
            </a:r>
            <a:r>
              <a:rPr lang="es-ES" sz="800" dirty="0" smtClean="0">
                <a:cs typeface="Arial" panose="020B0604020202020204" pitchFamily="34" charset="0"/>
              </a:rPr>
              <a:t> </a:t>
            </a:r>
          </a:p>
          <a:p>
            <a:r>
              <a:rPr lang="es-ES" sz="800" dirty="0" smtClean="0">
                <a:cs typeface="Arial" panose="020B0604020202020204" pitchFamily="34" charset="0"/>
              </a:rPr>
              <a:t>e dirección por sector</a:t>
            </a:r>
            <a:endParaRPr lang="es-ES" sz="800" dirty="0">
              <a:cs typeface="Arial" panose="020B0604020202020204" pitchFamily="34" charset="0"/>
            </a:endParaRPr>
          </a:p>
        </p:txBody>
      </p:sp>
      <p:sp>
        <p:nvSpPr>
          <p:cNvPr id="14" name="CuadroTexto 13"/>
          <p:cNvSpPr txBox="1"/>
          <p:nvPr/>
        </p:nvSpPr>
        <p:spPr>
          <a:xfrm>
            <a:off x="109734" y="5056582"/>
            <a:ext cx="144965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b="1" dirty="0">
                <a:cs typeface="Arial" panose="020B0604020202020204" pitchFamily="34" charset="0"/>
              </a:rPr>
              <a:t>Gráfica </a:t>
            </a:r>
            <a:r>
              <a:rPr lang="es-ES" sz="800" b="1" dirty="0" smtClean="0">
                <a:cs typeface="Arial" panose="020B0604020202020204" pitchFamily="34" charset="0"/>
              </a:rPr>
              <a:t>2</a:t>
            </a:r>
          </a:p>
          <a:p>
            <a:r>
              <a:rPr lang="es-ES" sz="800" dirty="0" smtClean="0">
                <a:cs typeface="Arial" panose="020B0604020202020204" pitchFamily="34" charset="0"/>
              </a:rPr>
              <a:t>As </a:t>
            </a:r>
            <a:r>
              <a:rPr lang="es-ES" sz="800" dirty="0">
                <a:cs typeface="Arial" panose="020B0604020202020204" pitchFamily="34" charset="0"/>
              </a:rPr>
              <a:t>barras </a:t>
            </a:r>
            <a:r>
              <a:rPr lang="es-ES" sz="800" dirty="0" err="1">
                <a:cs typeface="Arial" panose="020B0604020202020204" pitchFamily="34" charset="0"/>
              </a:rPr>
              <a:t>mostran</a:t>
            </a:r>
            <a:r>
              <a:rPr lang="es-ES" sz="800" dirty="0">
                <a:cs typeface="Arial" panose="020B0604020202020204" pitchFamily="34" charset="0"/>
              </a:rPr>
              <a:t> a precipitación acumulada en cada mes e o balance hídrico. A escala, en milímetros, aparece no </a:t>
            </a:r>
            <a:r>
              <a:rPr lang="es-ES" sz="800" dirty="0" err="1">
                <a:cs typeface="Arial" panose="020B0604020202020204" pitchFamily="34" charset="0"/>
              </a:rPr>
              <a:t>eixe</a:t>
            </a:r>
            <a:r>
              <a:rPr lang="es-ES" sz="800" dirty="0">
                <a:cs typeface="Arial" panose="020B0604020202020204" pitchFamily="34" charset="0"/>
              </a:rPr>
              <a:t> da </a:t>
            </a:r>
            <a:r>
              <a:rPr lang="es-ES" sz="800" dirty="0" err="1">
                <a:cs typeface="Arial" panose="020B0604020202020204" pitchFamily="34" charset="0"/>
              </a:rPr>
              <a:t>esquerda</a:t>
            </a:r>
            <a:r>
              <a:rPr lang="es-ES" sz="800" dirty="0">
                <a:cs typeface="Arial" panose="020B0604020202020204" pitchFamily="34" charset="0"/>
              </a:rPr>
              <a:t>. </a:t>
            </a:r>
            <a:r>
              <a:rPr lang="es-ES" sz="800" dirty="0" err="1">
                <a:cs typeface="Arial" panose="020B0604020202020204" pitchFamily="34" charset="0"/>
              </a:rPr>
              <a:t>Tamén</a:t>
            </a:r>
            <a:r>
              <a:rPr lang="es-ES" sz="800" dirty="0">
                <a:cs typeface="Arial" panose="020B0604020202020204" pitchFamily="34" charset="0"/>
              </a:rPr>
              <a:t> se </a:t>
            </a:r>
            <a:r>
              <a:rPr lang="es-ES" sz="800" dirty="0" err="1">
                <a:cs typeface="Arial" panose="020B0604020202020204" pitchFamily="34" charset="0"/>
              </a:rPr>
              <a:t>mostra</a:t>
            </a:r>
            <a:r>
              <a:rPr lang="es-ES" sz="800" dirty="0">
                <a:cs typeface="Arial" panose="020B0604020202020204" pitchFamily="34" charset="0"/>
              </a:rPr>
              <a:t> a </a:t>
            </a:r>
            <a:r>
              <a:rPr lang="es-ES" sz="800" dirty="0" err="1">
                <a:cs typeface="Arial" panose="020B0604020202020204" pitchFamily="34" charset="0"/>
              </a:rPr>
              <a:t>Tª</a:t>
            </a:r>
            <a:r>
              <a:rPr lang="es-ES" sz="800" dirty="0">
                <a:cs typeface="Arial" panose="020B0604020202020204" pitchFamily="34" charset="0"/>
              </a:rPr>
              <a:t> media mensual (círculos unidos por </a:t>
            </a:r>
            <a:r>
              <a:rPr lang="es-ES" sz="800" dirty="0" err="1">
                <a:cs typeface="Arial" panose="020B0604020202020204" pitchFamily="34" charset="0"/>
              </a:rPr>
              <a:t>unha</a:t>
            </a:r>
            <a:r>
              <a:rPr lang="es-ES" sz="800" dirty="0">
                <a:cs typeface="Arial" panose="020B0604020202020204" pitchFamily="34" charset="0"/>
              </a:rPr>
              <a:t> </a:t>
            </a:r>
            <a:r>
              <a:rPr lang="es-ES" sz="800" dirty="0" err="1">
                <a:cs typeface="Arial" panose="020B0604020202020204" pitchFamily="34" charset="0"/>
              </a:rPr>
              <a:t>liña</a:t>
            </a:r>
            <a:r>
              <a:rPr lang="es-ES" sz="800" dirty="0">
                <a:cs typeface="Arial" panose="020B0604020202020204" pitchFamily="34" charset="0"/>
              </a:rPr>
              <a:t>). A escala en graos para a temperatura </a:t>
            </a:r>
            <a:r>
              <a:rPr lang="es-ES" sz="800" dirty="0" err="1">
                <a:cs typeface="Arial" panose="020B0604020202020204" pitchFamily="34" charset="0"/>
              </a:rPr>
              <a:t>amósase</a:t>
            </a:r>
            <a:r>
              <a:rPr lang="es-ES" sz="800" dirty="0">
                <a:cs typeface="Arial" panose="020B0604020202020204" pitchFamily="34" charset="0"/>
              </a:rPr>
              <a:t> no </a:t>
            </a:r>
            <a:r>
              <a:rPr lang="es-ES" sz="800" dirty="0" err="1">
                <a:cs typeface="Arial" panose="020B0604020202020204" pitchFamily="34" charset="0"/>
              </a:rPr>
              <a:t>eixe</a:t>
            </a:r>
            <a:r>
              <a:rPr lang="es-ES" sz="800" dirty="0">
                <a:cs typeface="Arial" panose="020B0604020202020204" pitchFamily="34" charset="0"/>
              </a:rPr>
              <a:t> da </a:t>
            </a:r>
            <a:r>
              <a:rPr lang="es-ES" sz="800" dirty="0" err="1">
                <a:cs typeface="Arial" panose="020B0604020202020204" pitchFamily="34" charset="0"/>
              </a:rPr>
              <a:t>dereita</a:t>
            </a:r>
            <a:endParaRPr lang="es-ES" sz="800" b="1" dirty="0">
              <a:cs typeface="Arial" panose="020B0604020202020204" pitchFamily="34" charset="0"/>
            </a:endParaRPr>
          </a:p>
        </p:txBody>
      </p:sp>
      <p:sp>
        <p:nvSpPr>
          <p:cNvPr id="15" name="CuadroTexto 14"/>
          <p:cNvSpPr txBox="1"/>
          <p:nvPr/>
        </p:nvSpPr>
        <p:spPr>
          <a:xfrm>
            <a:off x="1298681" y="653730"/>
            <a:ext cx="43652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>
                <a:latin typeface="Arial" panose="020B0604020202020204" pitchFamily="34" charset="0"/>
                <a:cs typeface="Arial" panose="020B0604020202020204" pitchFamily="34" charset="0"/>
              </a:rPr>
              <a:t>Esquema da información por estación</a:t>
            </a:r>
          </a:p>
        </p:txBody>
      </p:sp>
      <p:cxnSp>
        <p:nvCxnSpPr>
          <p:cNvPr id="17" name="Conector angular 16"/>
          <p:cNvCxnSpPr/>
          <p:nvPr/>
        </p:nvCxnSpPr>
        <p:spPr>
          <a:xfrm>
            <a:off x="720335" y="2872501"/>
            <a:ext cx="885694" cy="389100"/>
          </a:xfrm>
          <a:prstGeom prst="bentConnector3">
            <a:avLst>
              <a:gd name="adj1" fmla="val 714"/>
            </a:avLst>
          </a:prstGeom>
          <a:ln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angular 22"/>
          <p:cNvCxnSpPr/>
          <p:nvPr/>
        </p:nvCxnSpPr>
        <p:spPr>
          <a:xfrm rot="10800000" flipV="1">
            <a:off x="5251971" y="2877517"/>
            <a:ext cx="412009" cy="142129"/>
          </a:xfrm>
          <a:prstGeom prst="bentConnector3">
            <a:avLst>
              <a:gd name="adj1" fmla="val 968"/>
            </a:avLst>
          </a:prstGeom>
          <a:ln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angular 25"/>
          <p:cNvCxnSpPr/>
          <p:nvPr/>
        </p:nvCxnSpPr>
        <p:spPr>
          <a:xfrm>
            <a:off x="2425168" y="2101225"/>
            <a:ext cx="885694" cy="389100"/>
          </a:xfrm>
          <a:prstGeom prst="bentConnector3">
            <a:avLst>
              <a:gd name="adj1" fmla="val 100354"/>
            </a:avLst>
          </a:prstGeom>
          <a:ln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angular 27"/>
          <p:cNvCxnSpPr/>
          <p:nvPr/>
        </p:nvCxnSpPr>
        <p:spPr>
          <a:xfrm rot="5400000">
            <a:off x="4161336" y="2137108"/>
            <a:ext cx="389100" cy="301418"/>
          </a:xfrm>
          <a:prstGeom prst="bentConnector3">
            <a:avLst>
              <a:gd name="adj1" fmla="val -553"/>
            </a:avLst>
          </a:prstGeom>
          <a:ln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angular 30"/>
          <p:cNvCxnSpPr/>
          <p:nvPr/>
        </p:nvCxnSpPr>
        <p:spPr>
          <a:xfrm>
            <a:off x="720335" y="3610032"/>
            <a:ext cx="885693" cy="565008"/>
          </a:xfrm>
          <a:prstGeom prst="bentConnector3">
            <a:avLst>
              <a:gd name="adj1" fmla="val 92617"/>
            </a:avLst>
          </a:prstGeom>
          <a:ln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angular 34"/>
          <p:cNvCxnSpPr/>
          <p:nvPr/>
        </p:nvCxnSpPr>
        <p:spPr>
          <a:xfrm>
            <a:off x="711997" y="5172022"/>
            <a:ext cx="888715" cy="221867"/>
          </a:xfrm>
          <a:prstGeom prst="bentConnector3">
            <a:avLst>
              <a:gd name="adj1" fmla="val 86490"/>
            </a:avLst>
          </a:prstGeom>
          <a:ln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angular 38"/>
          <p:cNvCxnSpPr/>
          <p:nvPr/>
        </p:nvCxnSpPr>
        <p:spPr>
          <a:xfrm rot="16200000" flipV="1">
            <a:off x="5161300" y="3815564"/>
            <a:ext cx="268582" cy="87241"/>
          </a:xfrm>
          <a:prstGeom prst="bentConnector3">
            <a:avLst>
              <a:gd name="adj1" fmla="val 99484"/>
            </a:avLst>
          </a:prstGeom>
          <a:ln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angular 43"/>
          <p:cNvCxnSpPr/>
          <p:nvPr/>
        </p:nvCxnSpPr>
        <p:spPr>
          <a:xfrm rot="5400000">
            <a:off x="5112821" y="5129923"/>
            <a:ext cx="365541" cy="87241"/>
          </a:xfrm>
          <a:prstGeom prst="bentConnector3">
            <a:avLst>
              <a:gd name="adj1" fmla="val 99448"/>
            </a:avLst>
          </a:prstGeom>
          <a:ln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ector angular 46"/>
          <p:cNvCxnSpPr/>
          <p:nvPr/>
        </p:nvCxnSpPr>
        <p:spPr>
          <a:xfrm flipV="1">
            <a:off x="1461977" y="7647451"/>
            <a:ext cx="1233376" cy="518354"/>
          </a:xfrm>
          <a:prstGeom prst="bentConnector3">
            <a:avLst>
              <a:gd name="adj1" fmla="val 100000"/>
            </a:avLst>
          </a:prstGeom>
          <a:ln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ector angular 55"/>
          <p:cNvCxnSpPr/>
          <p:nvPr/>
        </p:nvCxnSpPr>
        <p:spPr>
          <a:xfrm rot="10800000">
            <a:off x="4213035" y="7647451"/>
            <a:ext cx="602417" cy="518354"/>
          </a:xfrm>
          <a:prstGeom prst="bentConnector3">
            <a:avLst>
              <a:gd name="adj1" fmla="val 100302"/>
            </a:avLst>
          </a:prstGeom>
          <a:ln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470592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87</TotalTime>
  <Words>222</Words>
  <Application>Microsoft Office PowerPoint</Application>
  <PresentationFormat>A4 (210 x 297 mm)</PresentationFormat>
  <Paragraphs>17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de Office</vt:lpstr>
      <vt:lpstr>Presentación de PowerPoint</vt:lpstr>
    </vt:vector>
  </TitlesOfParts>
  <Company>TRAGSA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Calviño Ruso, Jesús</dc:creator>
  <cp:lastModifiedBy>Calviño Ruso, Jesús</cp:lastModifiedBy>
  <cp:revision>6</cp:revision>
  <dcterms:created xsi:type="dcterms:W3CDTF">2026-03-10T11:15:41Z</dcterms:created>
  <dcterms:modified xsi:type="dcterms:W3CDTF">2026-03-10T12:42:57Z</dcterms:modified>
</cp:coreProperties>
</file>